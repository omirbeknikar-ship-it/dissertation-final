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BRI's Impact on Kazakhstan–China Trade Balance: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FD7ED"/>
                </a:solidFill>
              </a:rPr>
              <a:t>The Role of Strategic Mineral Exports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4114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Nikar Omirbek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ED"/>
                </a:solidFill>
              </a:rPr>
              <a:t>Final Dissertation Defense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Evidence from an Annual Bilateral Time-Series Analysis, 2000–2023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Presentation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1F3864"/>
                </a:solidFill>
              </a:rPr>
              <a:t>•  The Puzzle — what the data shows at face value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F3864"/>
                </a:solidFill>
              </a:rPr>
              <a:t>•  Research Question &amp; Theory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F3864"/>
                </a:solidFill>
              </a:rPr>
              <a:t>•  Data &amp; Analytical Pipeline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F3864"/>
                </a:solidFill>
              </a:rPr>
              <a:t>•  Regression Analysis &amp; Multicollinearity Resolution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F3864"/>
                </a:solidFill>
              </a:rPr>
              <a:t>•  Main Finding: TWFE Difference-in-Differences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F3864"/>
                </a:solidFill>
              </a:rPr>
              <a:t>•  Robustness &amp; Limitations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F3864"/>
                </a:solidFill>
              </a:rPr>
              <a:t>•  Conclusions &amp; Policy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Puzzle: BRI Was Supposed to Help Kazakhstan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864"/>
                </a:solidFill>
              </a:rPr>
              <a:t>After BRI launched (2013), Kazakhstan's trade position with China deteriorated — despite record mineral exports.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2286000" cy="12801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0000"/>
                </a:solidFill>
              </a:rPr>
              <a:t>+94.3%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</a:rPr>
              <a:t>Imports from China
(post-BRI avg.)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74519"/>
            <a:ext cx="2286000" cy="12801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9476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75B6"/>
                </a:solidFill>
              </a:rPr>
              <a:t>+24.3%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877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</a:rPr>
              <a:t>Exports to China
(post-BRI avg.)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874519"/>
            <a:ext cx="2286000" cy="12801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9476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75B6"/>
                </a:solidFill>
              </a:rPr>
              <a:t>+29.2%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5877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</a:rPr>
              <a:t>Mineral exports
(post-BRI avg.)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874519"/>
            <a:ext cx="2286000" cy="12801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9476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0000"/>
                </a:solidFill>
              </a:rPr>
              <a:t>−37.8%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5877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</a:rPr>
              <a:t>Trade surplus
(post-BRI avg.)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10789920" cy="1005840"/>
          </a:xfrm>
          <a:prstGeom prst="rect">
            <a:avLst/>
          </a:prstGeom>
          <a:solidFill>
            <a:srgbClr val="FFEBEB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00000"/>
                </a:solidFill>
              </a:rPr>
              <a:t>2023  —  First-ever bilateral trade DEFICIT with China:  −$2.01 billion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</a:rPr>
              <a:t>Imports $16.77bn  vs  Exports $14.76bn  |  Record mineral exports in the same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26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F3864"/>
                </a:solidFill>
              </a:rPr>
              <a:t>Core question:  Did mineral wealth provide any real leverage — or did asymmetric interdependence dominate?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Question &amp; Theoretical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Research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155680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F3864"/>
                </a:solidFill>
              </a:rPr>
              <a:t>How did the post-BRI period change the relationship between Kazakhstan's strategic mineral exports and its bilateral trade balance with China?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Theoretical Framework: Asymmetric Interdependence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356616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Kazakhstan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3566160" cy="2560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4787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Needs China as primary buyer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Limited alternative markets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988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Concentrated mineral export basket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743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→  High dependence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063240"/>
            <a:ext cx="356616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0906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China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3474720"/>
            <a:ext cx="3566160" cy="2560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54787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Multiple mineral suppliers globally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0233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Diversified import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4988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200× larger economy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9743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→  Low dependence on KZ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063240"/>
            <a:ext cx="35661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0906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Prediction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474720"/>
            <a:ext cx="3566160" cy="2560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54787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BRI deepens the relationship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0233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Import surge outpaces exports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4988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Mineral revenues insufficient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9743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→  Balance deteriorates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&amp; Analytical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Annual bilateral panel: 2000–2023  (n = 24)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IMF DOTS — bilateral exports &amp; imports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World Bank WDI — GDP, exchange rates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UN Comtrade — HS-level mineral exports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Kazakhstan Bureau of National Statistics — cross-validation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6 partner countries: CHN, RUS, DEU, UZB, TUR, USA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</a:rPr>
              <a:t>Reproducible GitHub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72768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36 Python scripts — fully automated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Data collection → cleaning → analysis → figures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Every table and chart generated by code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Version-controlled, publicly accessible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All results reproducible from raw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572000"/>
            <a:ext cx="5394960" cy="1463040"/>
          </a:xfrm>
          <a:prstGeom prst="rect">
            <a:avLst/>
          </a:prstGeom>
          <a:solidFill>
            <a:srgbClr val="F2F2F2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6451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Validation: BNS-scraped figures vs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983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2023 exports: 0.3% discrepancy  |  2023 imports: 0.1% discrepancy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321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8610"/>
                </a:solidFill>
              </a:rPr>
              <a:t>Both well within the &lt;10% validation threshold 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530352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Trade Balance Over Time (2000–2023)</a:t>
            </a:r>
          </a:p>
        </p:txBody>
      </p:sp>
      <p:pic>
        <p:nvPicPr>
          <p:cNvPr id="6" name="Picture 5" descr="fig_2_trade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The 2023 deficit is the first in recorded Kazakhstan–China trade history. A decade-long deterioration, not a single-year shock.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Import-Side Deepening: The Primary Mechanism</a:t>
            </a:r>
          </a:p>
        </p:txBody>
      </p:sp>
      <p:pic>
        <p:nvPicPr>
          <p:cNvPr id="6" name="Picture 5" descr="fig_1_exports_im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77240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371600"/>
            <a:ext cx="3520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F3864"/>
                </a:solidFill>
              </a:rPr>
              <a:t>•  Imports nearly quadrupled post-BRI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F3864"/>
                </a:solidFill>
              </a:rPr>
              <a:t>•  Export growth modest (+24%)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F3864"/>
                </a:solidFill>
              </a:rPr>
              <a:t>•  Mineral exports +29% — insufficient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F3864"/>
                </a:solidFill>
              </a:rPr>
              <a:t>•  Import-side deepening is the
primary mechanism of deterioration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Empirical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56032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1188720"/>
            <a:ext cx="475488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188720"/>
            <a:ext cx="393192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25296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25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2252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36192"/>
            <a:ext cx="256032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0" y="1536192"/>
            <a:ext cx="47548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536192"/>
            <a:ext cx="393192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58191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OLS Regression
(HAC s.e.)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581912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Tests whether post-BRI × minerals interaction
is negative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58191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Primary coefficient of interest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94560"/>
            <a:ext cx="2560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0" y="2194560"/>
            <a:ext cx="4754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2194560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240280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Multicollinearity
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240280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GDP levels → GDP growth rates
VIF: 236 → 10.4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240280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Scheme B = primary specification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52928"/>
            <a:ext cx="256032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0" y="2852928"/>
            <a:ext cx="47548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2852928"/>
            <a:ext cx="393192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9864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288-Spec Grid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2898648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Vary mineral measure, lags, estimator, BRI proxy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898648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Robustness to specification choice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511296"/>
            <a:ext cx="2560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3511296"/>
            <a:ext cx="4754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0" y="3511296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557015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Leave-One-Out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3557015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Remove each year; test coefficient stability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557015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Identifies influential observations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169663"/>
            <a:ext cx="256032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17520" y="4169663"/>
            <a:ext cx="47548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0" y="4169663"/>
            <a:ext cx="393192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15383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Influence Diagnostics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215383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Cook's distance, leverage, studentised residuals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215383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Flags 2023 as extreme outlier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28031"/>
            <a:ext cx="2560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17520" y="4828031"/>
            <a:ext cx="4754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63840" y="4828031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873751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TWFE DiD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4873751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Kazakhstan vs 5 control partners
Partner + year fixed effects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873751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Primary causal identification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486399"/>
            <a:ext cx="256032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17520" y="5486399"/>
            <a:ext cx="47548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63840" y="5486399"/>
            <a:ext cx="393192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53211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Synthetic Control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0" y="5532119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Pre-period counterfactual trajectory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532119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Complementary causal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Multicollinearity: Problem &amp;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864"/>
                </a:solidFill>
              </a:rPr>
              <a:t>Original model used log(KZ GDP) + log(CN GDP) as separate regressors. Both trend upward nearly every year → near-perfect collinearity.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5661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Scheme A
(Pre-revision)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3566160" cy="30175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Variables: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</a:rPr>
              <a:t>log(KZ GDP)
log(CN GDP)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Max VIF: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18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C00000"/>
                </a:solidFill>
              </a:rPr>
              <a:t>236.3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❌  Severe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783080"/>
            <a:ext cx="3566160" cy="4572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80136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Scheme B
(Primary  ✓)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240280"/>
            <a:ext cx="3566160" cy="30175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Variables: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</a:rPr>
              <a:t>d.log(KZ GDP)
d.log(CN GDP)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Max VIF: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218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378610"/>
                </a:solidFill>
              </a:rPr>
              <a:t>10.4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703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10"/>
                </a:solidFill>
              </a:rPr>
              <a:t>✓  Meets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783080"/>
            <a:ext cx="3566160" cy="45720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80136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Scheme C
(Robustness)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240280"/>
            <a:ext cx="3566160" cy="30175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Variables: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</a:rPr>
              <a:t>log(CN/KZ GDP)
ratio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Max VIF: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218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FF7F00"/>
                </a:solidFill>
              </a:rPr>
              <a:t>33.4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703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00"/>
                </a:solidFill>
              </a:rPr>
              <a:t>⚠  Improved; not ideal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11155680" cy="54864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413248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5C00"/>
                </a:solidFill>
              </a:rPr>
              <a:t>Scheme B is the primary specification: GDP growth rates are stationary, theoretically justified, and achieve VIF = 10.4.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Regression Results: Post-BRI × Minerals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</a:rPr>
              <a:t>Key coefficient:  Post-BRI × Mineral Exports  (β₃)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840480" cy="347472"/>
          </a:xfrm>
          <a:prstGeom prst="rect">
            <a:avLst/>
          </a:prstGeom>
          <a:solidFill>
            <a:srgbClr val="1F3864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36776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Specification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00200"/>
            <a:ext cx="640080" cy="347472"/>
          </a:xfrm>
          <a:prstGeom prst="rect">
            <a:avLst/>
          </a:prstGeom>
          <a:solidFill>
            <a:srgbClr val="1F3864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600200"/>
            <a:ext cx="1371600" cy="347472"/>
          </a:xfrm>
          <a:prstGeom prst="rect">
            <a:avLst/>
          </a:prstGeom>
          <a:solidFill>
            <a:srgbClr val="1F3864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367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Interaction 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1097280" cy="347472"/>
          </a:xfrm>
          <a:prstGeom prst="rect">
            <a:avLst/>
          </a:prstGeom>
          <a:solidFill>
            <a:srgbClr val="1F3864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3677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HAC 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600200"/>
            <a:ext cx="1097280" cy="347472"/>
          </a:xfrm>
          <a:prstGeom prst="rect">
            <a:avLst/>
          </a:prstGeom>
          <a:solidFill>
            <a:srgbClr val="1F3864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63677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19" y="1600200"/>
            <a:ext cx="1097280" cy="347472"/>
          </a:xfrm>
          <a:prstGeom prst="rect">
            <a:avLst/>
          </a:prstGeom>
          <a:solidFill>
            <a:srgbClr val="1F3864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63677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Max VIF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47672"/>
            <a:ext cx="38404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984248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A: GDP levels (pre-rev)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947672"/>
            <a:ext cx="6400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9842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947672"/>
            <a:ext cx="137160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9842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0000"/>
                </a:solidFill>
              </a:rPr>
              <a:t>−3.220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947672"/>
            <a:ext cx="10972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8424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1.043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947672"/>
            <a:ext cx="10972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98424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19" y="1947672"/>
            <a:ext cx="10972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198424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236.3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368296"/>
            <a:ext cx="384048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404872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B: GDP growth ✓ primary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368296"/>
            <a:ext cx="64008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240487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2368296"/>
            <a:ext cx="137160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24048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</a:rPr>
              <a:t>−2.489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368296"/>
            <a:ext cx="109728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240487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0.974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2368296"/>
            <a:ext cx="109728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240487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0.011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19" y="2368296"/>
            <a:ext cx="109728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240487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10.4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788920"/>
            <a:ext cx="38404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2825496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B: excl. 2022–2023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2788920"/>
            <a:ext cx="6400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28254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2788920"/>
            <a:ext cx="137160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3480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−0.012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2788920"/>
            <a:ext cx="10972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282549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0.283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2788920"/>
            <a:ext cx="10972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282549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0.966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19" y="2788920"/>
            <a:ext cx="10972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9640" y="282549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10.4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209544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246120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B: excl. 2023 only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3209544"/>
            <a:ext cx="640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43400" y="32461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22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3209544"/>
            <a:ext cx="1371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83480" y="3246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+0.065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209544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324612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0.239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06640" y="3209544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52360" y="324612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0.785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19" y="3209544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49640" y="324612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10.4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630168"/>
            <a:ext cx="38404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3666744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C: Gravity ratio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3630168"/>
            <a:ext cx="6400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43400" y="366674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3630168"/>
            <a:ext cx="137160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83480" y="36667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0000"/>
                </a:solidFill>
              </a:rPr>
              <a:t>−2.419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3630168"/>
            <a:ext cx="10972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55080" y="366674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1.131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06640" y="3630168"/>
            <a:ext cx="10972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52360" y="366674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0.033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19" y="3630168"/>
            <a:ext cx="10972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49640" y="366674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33.4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050791"/>
            <a:ext cx="3840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4087368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C: excl. 2022–2023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97680" y="4050791"/>
            <a:ext cx="640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43400" y="40873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37760" y="4050791"/>
            <a:ext cx="1371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83480" y="40873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+0.102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4050791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80" y="408736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0.432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06640" y="4050791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52360" y="408736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0.813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03919" y="4050791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49640" y="408736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33.4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00000"/>
                </a:solidFill>
              </a:rPr>
              <a:t>⚠  The interaction disappears when 2022–2023 are excluded → result is fragile. Primary evidence comes from the DiD (next slide).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Influence Diagnostics: The Role of 2023</a:t>
            </a:r>
          </a:p>
        </p:txBody>
      </p:sp>
      <p:pic>
        <p:nvPicPr>
          <p:cNvPr id="6" name="Picture 5" descr="fig_5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498079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280160"/>
            <a:ext cx="3566160" cy="1188720"/>
          </a:xfrm>
          <a:prstGeom prst="rect">
            <a:avLst/>
          </a:prstGeom>
          <a:solidFill>
            <a:srgbClr val="FFEBEB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3258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0000"/>
                </a:solidFill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</a:rPr>
              <a:t>Cook's D = 3.90
23× the threshold (4/n = 0.167)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6060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F3864"/>
                </a:solidFill>
              </a:rPr>
              <a:t>•  Excluding any year except 2023
→ interaction stays negative &amp; significant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F3864"/>
                </a:solidFill>
              </a:rPr>
              <a:t>•  Excluding 2023 alone
→ interaction loses significance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F3864"/>
                </a:solidFill>
              </a:rPr>
              <a:t>•  R² jumps from 0.765 → 0.960
when 2023 removed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F3864"/>
                </a:solidFill>
              </a:rPr>
              <a:t>•  This is reported transparently
in the paper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Main Finding: TWFE Difference-in-Differences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Is the deterioration China-specific, or a global trend?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</a:rPr>
              <a:t>Design:  Stack Kazakhstan + 5 control partners (RUS, DEU, UZB, TUR, USA)  →  144 obs.  |  Partner FE + Year FE  |  HAC s.e.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03520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DiD Coefficient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CC00"/>
                </a:solidFill>
              </a:rPr>
              <a:t>−0.305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FD7ED"/>
                </a:solidFill>
              </a:rPr>
              <a:t>p = 0.0002   |   HAC SE = 0.083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91640"/>
            <a:ext cx="566928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7556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What this means: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103120"/>
            <a:ext cx="5669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0000"/>
                </a:solidFill>
              </a:rPr>
              <a:t>•  Kazakhstan's balance ratio fell ~30.5 pp more
than control partners post-2013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00000"/>
                </a:solidFill>
              </a:rPr>
              <a:t>•  After controlling for all common time trends
and partner-level differences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00000"/>
                </a:solidFill>
              </a:rPr>
              <a:t>•  Not driven by oil prices, global macro,
or general China trade patterns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00000"/>
                </a:solidFill>
              </a:rPr>
              <a:t>•  →  The deterioration is CHINA-SPECIFIC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530352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50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China vs Russia only: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DiD = −0.151  (p = 0.008)  —  robust to most similar partner comparison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886200"/>
            <a:ext cx="5669280" cy="91440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160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5C00"/>
                </a:solidFill>
              </a:rPr>
              <a:t>✓  This is the strongest identification result in the paper.</a:t>
            </a:r>
          </a:p>
        </p:txBody>
      </p:sp>
      <p:pic>
        <p:nvPicPr>
          <p:cNvPr id="20" name="Picture 19" descr="fig_did_event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37760"/>
            <a:ext cx="1124712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Synthetic Counterfactual: What If BRI Hadn't Happened?</a:t>
            </a:r>
          </a:p>
        </p:txBody>
      </p:sp>
      <p:pic>
        <p:nvPicPr>
          <p:cNvPr id="6" name="Picture 5" descr="fig_synthetic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77240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280160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F3864"/>
                </a:solidFill>
              </a:rPr>
              <a:t>•  Pre-period (2000–2012) dynamics used
to project a synthetic counterfactual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F3864"/>
                </a:solidFill>
              </a:rPr>
              <a:t>•  Gap negative in 8 of 11 post-BRI years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F3864"/>
                </a:solidFill>
              </a:rPr>
              <a:t>•  MSPE ratio = 9.53
(post-period 9× harder to fit)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F3864"/>
                </a:solidFill>
              </a:rPr>
              <a:t>•  Consistent direction with DiD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F3864"/>
                </a:solidFill>
              </a:rPr>
              <a:t>•  Not statistically significant alone
→ treated as complementary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Evidence Summary: Triple-Concordance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864"/>
                </a:solidFill>
              </a:rPr>
              <a:t>All methods point in the same direction (deterioration). Strength varies.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367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39" y="16367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6367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p-value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3677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163677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65960"/>
            <a:ext cx="265176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965960"/>
            <a:ext cx="20116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965960"/>
            <a:ext cx="137160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965960"/>
            <a:ext cx="448056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208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Regression (Scheme B primary)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202082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7F00"/>
                </a:solidFill>
              </a:rPr>
              <a:t>Negative (−2.49)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02082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p = 0.011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2082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Driven by 2022–23;  fragile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202082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F00"/>
                </a:solidFill>
              </a:rPr>
              <a:t>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41448"/>
            <a:ext cx="2651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7520" y="2441448"/>
            <a:ext cx="20116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2441448"/>
            <a:ext cx="1371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41448"/>
            <a:ext cx="4480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4963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Regression (Scheme C robustness)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39" y="24963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7F00"/>
                </a:solidFill>
              </a:rPr>
              <a:t>Negative (−2.42)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4963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p = 0.033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4963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Same fragility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249631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F00"/>
                </a:solidFill>
              </a:rPr>
              <a:t>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16936"/>
            <a:ext cx="265176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520" y="2916936"/>
            <a:ext cx="20116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2916936"/>
            <a:ext cx="137160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2916936"/>
            <a:ext cx="448056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971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TWFE DiD — China vs all partners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39" y="2971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10"/>
                </a:solidFill>
              </a:rPr>
              <a:t>Negative (−0.305)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29718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p = 0.0002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9718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China-specific;  strongest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297180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78610"/>
                </a:solidFill>
              </a:rPr>
              <a:t>✓✓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392424"/>
            <a:ext cx="2651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17520" y="3392424"/>
            <a:ext cx="20116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392424"/>
            <a:ext cx="1371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392424"/>
            <a:ext cx="4480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4472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TWFE DiD — China vs Russia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39" y="34472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10"/>
                </a:solidFill>
              </a:rPr>
              <a:t>Negative (−0.151)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34472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p = 0.008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44728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Robust to similar partner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344728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78610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867912"/>
            <a:ext cx="265176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17520" y="3867912"/>
            <a:ext cx="20116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867912"/>
            <a:ext cx="137160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3867912"/>
            <a:ext cx="448056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92277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Synthetic control gap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63239" y="39227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5B6"/>
                </a:solidFill>
              </a:rPr>
              <a:t>Negative (−0.014)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4920" y="39227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p = 0.857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392277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Consistent direction; not significant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39227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343400"/>
            <a:ext cx="2651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17520" y="4343400"/>
            <a:ext cx="20116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0" y="4343400"/>
            <a:ext cx="1371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0" y="4343400"/>
            <a:ext cx="4480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43982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Sanctions robustness excl 22–23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63239" y="43982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7F00"/>
                </a:solidFill>
              </a:rPr>
              <a:t>Insignificant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74920" y="439826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p = 0.966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439826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Alternative channel cannot be ruled out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64240" y="439826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F00"/>
                </a:solidFill>
              </a:rPr>
              <a:t>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10327"/>
            <a:ext cx="11430000" cy="50292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97433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5C00"/>
                </a:solidFill>
              </a:rPr>
              <a:t>Conclusion:  Evidence is strongly consistent with asymmetric interdependence deepening post-BRI.  Causal attribution to BRI specifically requires caution.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Limitations: What This Study Cannot Establish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Cannot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27048"/>
            <a:ext cx="5577840" cy="3931920"/>
          </a:xfrm>
          <a:prstGeom prst="rect">
            <a:avLst/>
          </a:prstGeom>
          <a:solidFill>
            <a:srgbClr val="FFEBEB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BRI caused the trade balance deterioration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The regression interaction is a stable structural parameter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The 2022–2023 import surge is purely BRI-driven (sanctions parallel-import channel exists)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Mineral-specific effects can be fully isolated from energy-export dynamics (HS-27 data unavailable)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7957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Can claim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27048"/>
            <a:ext cx="5577840" cy="393192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The post-BRI trade balance deterioration is China-specific (TWFE DiD, p = 0.0002)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Strategic mineral export growth did not offset the import-side surge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The pattern is strongly consistent with asymmetric interdependence theory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</a:rPr>
              <a:t>•  The methodology is transparent, reproducible, and diagnostically honest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Policy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F3864"/>
                </a:solidFill>
              </a:rPr>
              <a:t>Kazakhstan is not a unique case — findings are relevant to all resource-rich BRI partners.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64208"/>
            <a:ext cx="50292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64208"/>
            <a:ext cx="10927080" cy="7315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Monitor trade balance 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Aggregate trade volume growth can mask a deteriorating bilateral position.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95728"/>
            <a:ext cx="50292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56032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395728"/>
            <a:ext cx="109270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432304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Track import-side dependence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43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94% import growth signals deepening structural reliance on Chinese goods.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27248"/>
            <a:ext cx="50292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9184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127248"/>
            <a:ext cx="10927080" cy="7315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63824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Prioritise value-added export upgrading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2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Raw mineral exports are price-sensitive and insufficient to offset import surges.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58768"/>
            <a:ext cx="50292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023359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858768"/>
            <a:ext cx="109270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895344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Evaluate 2023 as a structural inflection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0624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First-ever deficit may mark a new regime — not a one-time statistical anomaly.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90288"/>
            <a:ext cx="50292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754879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590288"/>
            <a:ext cx="10927080" cy="7315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626864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Diversify export destinations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937759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Concentration risk in a single large buyer amplifies asymmetric vulnerability.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286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148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Descriptive 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234440"/>
            <a:ext cx="914400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325880"/>
            <a:ext cx="8915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Imports +94% vs exports +24%. Trade surplus fell 37.8%. First deficit in 2023.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2286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148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Regression finding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057400"/>
            <a:ext cx="914400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148840"/>
            <a:ext cx="8915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Negative post-BRI × minerals interaction (β = −2.49, p = 0.011) — but fragile to exclusion of 2022–2023.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2286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2148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Strongest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880360"/>
            <a:ext cx="914400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971800"/>
            <a:ext cx="8915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TWFE DiD: Kazakhstan's balance deteriorated 30.5 pp more than control partners (p = 0.0002). Deterioration is China-specific.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2286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2148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703320"/>
            <a:ext cx="914400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3794759"/>
            <a:ext cx="8915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Strongly consistent with asymmetric interdependence. Mineral wealth insufficient to offset China's import-capacity advantage.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26280"/>
            <a:ext cx="2286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2148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Broader relevance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4526280"/>
            <a:ext cx="914400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617720"/>
            <a:ext cx="8915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Applicable to all resource-rich BRI partner economies facing structural asymmetry with China as their dominant trading partner.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440680"/>
            <a:ext cx="114300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Transparent methodology  •  Reproducible pipeline  •  Honest reporting of fragility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FD7ED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971800"/>
            <a:ext cx="57607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CC00"/>
                </a:solidFill>
              </a:rPr>
              <a:t>Key number to remember:   DiD = −0.305   (p = 0.0002)   — China-specific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Nikar Omirbek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FD7ED"/>
                </a:solidFill>
              </a:rPr>
              <a:t>Full pipeline: github.com/omirbeknikar-ship-it/dissertation-final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